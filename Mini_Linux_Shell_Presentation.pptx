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d0d692b-8adc-4f82-f306-eaba4cdcbf47}">
          <p14:sldIdLst>
            <p14:sldId id="256"/>
          </p14:sldIdLst>
        </p14:section>
        <p14:section name="Background" id="{93aa65e4-9d1e-9ab5-d549-3701f89d9566}">
          <p14:sldIdLst>
            <p14:sldId id="257"/>
            <p14:sldId id="258"/>
            <p14:sldId id="259"/>
          </p14:sldIdLst>
        </p14:section>
        <p14:section name="Design" id="{0bbd5161-92a3-9896-1a12-fd741f6638ac}">
          <p14:sldIdLst>
            <p14:sldId id="260"/>
            <p14:sldId id="261"/>
            <p14:sldId id="262"/>
            <p14:sldId id="263"/>
          </p14:sldIdLst>
        </p14:section>
        <p14:section name="Demo" id="{8c935899-7648-1966-1f9b-bcad0c402d64}">
          <p14:sldIdLst>
            <p14:sldId id="264"/>
            <p14:sldId id="265"/>
            <p14:sldId id="266"/>
          </p14:sldIdLst>
        </p14:section>
        <p14:section name="Wrap-up" id="{e44599b5-46d8-6624-27dd-34fd5470ec11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menu-driven mini shell in C that shows how Linux creates processes, runs commands, and manages foreground and background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can type commands in a terminal but cannot easily see how jobs, PIDs and states connect. The four objectives map directly to four system calls or mechanisms.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 left to right. Stress that cd is handled in the parent with chdir(), otherwise the directory change would be lost with the child.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two modes using sleep 5 (foreground) and sleep 60 (background). Both end up in the job table when they are stopped or running in the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parent process owns the loop. Every action branches from the menu into one of five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Job ID versus PID distinction is central. The menu asks for the Job ID; the program looks up the PID to send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nine choices in the menu. Options 1 and 2 start commands, 3 to 7 manage jobs, 8 shows the directory, 9 exits.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kill() sends the signal to the PID stored in the job table. SIGTERM is a polite request, so the job may keep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project is one C file built by one Makefile. Mention that shell.h is listed as a dependency but is not yet included by shell.c; this is noted as future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order: make, ./minishell, option 2 with sleep 60, option 3 to list, option 6 to stop, option 5 to resume, option 7 to terminate, option 9 to exit.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suggested test cases from the report. The reported run covered date, ls, pwd, whoami, sleep 5 and sleep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scope. The Flask dashboard in the screenshots is a concept; its error does not reflect on the standalone C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restating what the project demonstrates,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2880360"/>
            <a:ext cx="5760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Mini Linux Shell  |  K L (Deemed to be) University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Mini Linux Shell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803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with Background Job Management</a:t>
            </a:r>
            <a:endParaRPr lang="en-US" sz="2200" dirty="0"/>
          </a:p>
        </p:txBody>
      </p:sp>
      <p:sp>
        <p:nvSpPr>
          <p:cNvPr id="4" name="Team and guide"/>
          <p:cNvSpPr txBox="1"/>
          <p:nvPr/>
        </p:nvSpPr>
        <p:spPr>
          <a:xfrm>
            <a:off x="640080" y="45720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P. Harini  |  Aasritha  |  P. Bindhu Madhavi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Guide: Dr. K. Hema, Assistant Professor, CSE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K L (Deemed to be) University  |  2026-2027</a:t>
            </a:r>
            <a:endParaRPr lang="en-US" sz="1600" dirty="0"/>
          </a:p>
        </p:txBody>
      </p:sp>
      <p:sp>
        <p:nvSpPr>
          <p:cNvPr id="5" name="Terminal window"/>
          <p:cNvSpPr/>
          <p:nvPr/>
        </p:nvSpPr>
        <p:spPr>
          <a:xfrm>
            <a:off x="6858000" y="1371600"/>
            <a:ext cx="4754880" cy="3383280"/>
          </a:xfrm>
          <a:prstGeom prst="roundRect">
            <a:avLst>
              <a:gd name="adj" fmla="val 3243"/>
            </a:avLst>
          </a:prstGeom>
          <a:solidFill>
            <a:schemeClr val="tx2"/>
          </a:solidFill>
          <a:ln/>
        </p:spPr>
      </p:sp>
      <p:sp>
        <p:nvSpPr>
          <p:cNvPr id="6" name="Dot red"/>
          <p:cNvSpPr/>
          <p:nvPr/>
        </p:nvSpPr>
        <p:spPr>
          <a:xfrm>
            <a:off x="7086600" y="1572768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Dot amber"/>
          <p:cNvSpPr/>
          <p:nvPr/>
        </p:nvSpPr>
        <p:spPr>
          <a:xfrm>
            <a:off x="7360920" y="1572768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Dot green"/>
          <p:cNvSpPr/>
          <p:nvPr/>
        </p:nvSpPr>
        <p:spPr>
          <a:xfrm>
            <a:off x="7635240" y="157276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rminal text"/>
          <p:cNvSpPr txBox="1"/>
          <p:nvPr/>
        </p:nvSpPr>
        <p:spPr>
          <a:xfrm>
            <a:off x="7132320" y="205740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./minishell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2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command: sleep 60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[1] added. PID: 6640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Running  sleep 60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and objectives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463040"/>
            <a:ext cx="475488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/>
        </p:spPr>
      </p:sp>
      <p:sp>
        <p:nvSpPr>
          <p:cNvPr id="4" name="Problem text"/>
          <p:cNvSpPr txBox="1"/>
          <p:nvPr/>
        </p:nvSpPr>
        <p:spPr>
          <a:xfrm>
            <a:off x="868680" y="1783080"/>
            <a:ext cx="4114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</a:t>
            </a:r>
            <a:endParaRPr lang="en-US" sz="2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Typing commands in a normal terminal hides how a shell-level job, its PID and its state relate to each other.</a:t>
            </a:r>
            <a:endParaRPr lang="en-US" sz="2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Beginners need a small, observable environment where each process operation is a clear choice.</a:t>
            </a:r>
            <a:endParaRPr lang="en-US" sz="2600" dirty="0"/>
          </a:p>
        </p:txBody>
      </p:sp>
      <p:sp>
        <p:nvSpPr>
          <p:cNvPr id="5" name="Process creation circle"/>
          <p:cNvSpPr/>
          <p:nvPr/>
        </p:nvSpPr>
        <p:spPr>
          <a:xfrm>
            <a:off x="576072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rocess cre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5886" y="1785366"/>
            <a:ext cx="315468" cy="315468"/>
          </a:xfrm>
          <a:prstGeom prst="rect">
            <a:avLst/>
          </a:prstGeom>
        </p:spPr>
      </p:pic>
      <p:sp>
        <p:nvSpPr>
          <p:cNvPr id="7" name="Process creation text"/>
          <p:cNvSpPr txBox="1"/>
          <p:nvPr/>
        </p:nvSpPr>
        <p:spPr>
          <a:xfrm>
            <a:off x="6629400" y="15544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Process creation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fork() duplicates the shell into a child process</a:t>
            </a:r>
            <a:endParaRPr lang="en-US" sz="2000" dirty="0"/>
          </a:p>
        </p:txBody>
      </p:sp>
      <p:sp>
        <p:nvSpPr>
          <p:cNvPr id="8" name="Command execution circle"/>
          <p:cNvSpPr/>
          <p:nvPr/>
        </p:nvSpPr>
        <p:spPr>
          <a:xfrm>
            <a:off x="5760720" y="2761488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Command exec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5886" y="2946654"/>
            <a:ext cx="315468" cy="315468"/>
          </a:xfrm>
          <a:prstGeom prst="rect">
            <a:avLst/>
          </a:prstGeom>
        </p:spPr>
      </p:pic>
      <p:sp>
        <p:nvSpPr>
          <p:cNvPr id="10" name="Command execution text"/>
          <p:cNvSpPr txBox="1"/>
          <p:nvPr/>
        </p:nvSpPr>
        <p:spPr>
          <a:xfrm>
            <a:off x="6629400" y="2715768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Command execution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execvp() replaces the child with the requested program</a:t>
            </a:r>
            <a:endParaRPr lang="en-US" sz="2000" dirty="0"/>
          </a:p>
        </p:txBody>
      </p:sp>
      <p:sp>
        <p:nvSpPr>
          <p:cNvPr id="11" name="Waiting and status circle"/>
          <p:cNvSpPr/>
          <p:nvPr/>
        </p:nvSpPr>
        <p:spPr>
          <a:xfrm>
            <a:off x="5760720" y="3922776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2" descr="Waiting and statu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886" y="4107942"/>
            <a:ext cx="315468" cy="315468"/>
          </a:xfrm>
          <a:prstGeom prst="rect">
            <a:avLst/>
          </a:prstGeom>
        </p:spPr>
      </p:pic>
      <p:sp>
        <p:nvSpPr>
          <p:cNvPr id="13" name="Waiting and status text"/>
          <p:cNvSpPr txBox="1"/>
          <p:nvPr/>
        </p:nvSpPr>
        <p:spPr>
          <a:xfrm>
            <a:off x="6629400" y="3877056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Waiting and status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waitpid() waits, or checks state without blocking</a:t>
            </a:r>
            <a:endParaRPr lang="en-US" sz="2000" dirty="0"/>
          </a:p>
        </p:txBody>
      </p:sp>
      <p:sp>
        <p:nvSpPr>
          <p:cNvPr id="14" name="Signal-based control circle"/>
          <p:cNvSpPr/>
          <p:nvPr/>
        </p:nvSpPr>
        <p:spPr>
          <a:xfrm>
            <a:off x="5760720" y="5084064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3" descr="Signal-based contro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5886" y="5269230"/>
            <a:ext cx="315468" cy="315468"/>
          </a:xfrm>
          <a:prstGeom prst="rect">
            <a:avLst/>
          </a:prstGeom>
        </p:spPr>
      </p:pic>
      <p:sp>
        <p:nvSpPr>
          <p:cNvPr id="16" name="Signal-based control text"/>
          <p:cNvSpPr txBox="1"/>
          <p:nvPr/>
        </p:nvSpPr>
        <p:spPr>
          <a:xfrm>
            <a:off x="6629400" y="5038344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Signal-based control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SIGSTOP, SIGCONT and SIGTERM sent with kill()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a command runs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463040"/>
            <a:ext cx="2468880" cy="28346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Step text 1"/>
          <p:cNvSpPr txBox="1"/>
          <p:nvPr/>
        </p:nvSpPr>
        <p:spPr>
          <a:xfrm>
            <a:off x="777240" y="242316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command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Option 1 or 2, then the line is split on spaces and tabs</a:t>
            </a:r>
            <a:endParaRPr lang="en-US" sz="2200" dirty="0"/>
          </a:p>
        </p:txBody>
      </p:sp>
      <p:sp>
        <p:nvSpPr>
          <p:cNvPr id="6" name="Arrow 1"/>
          <p:cNvSpPr/>
          <p:nvPr/>
        </p:nvSpPr>
        <p:spPr>
          <a:xfrm>
            <a:off x="3072384" y="2697480"/>
            <a:ext cx="274320" cy="3200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7" name="Step card 2"/>
          <p:cNvSpPr/>
          <p:nvPr/>
        </p:nvSpPr>
        <p:spPr>
          <a:xfrm>
            <a:off x="3410712" y="1463040"/>
            <a:ext cx="2468880" cy="28346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8" name="Number 2"/>
          <p:cNvSpPr txBox="1"/>
          <p:nvPr/>
        </p:nvSpPr>
        <p:spPr>
          <a:xfrm>
            <a:off x="3639312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Step text 2"/>
          <p:cNvSpPr txBox="1"/>
          <p:nvPr/>
        </p:nvSpPr>
        <p:spPr>
          <a:xfrm>
            <a:off x="3639312" y="242316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The parent creates a child process; failure is reported with perror()</a:t>
            </a:r>
            <a:endParaRPr lang="en-US" sz="2200" dirty="0"/>
          </a:p>
        </p:txBody>
      </p:sp>
      <p:sp>
        <p:nvSpPr>
          <p:cNvPr id="10" name="Arrow 2"/>
          <p:cNvSpPr/>
          <p:nvPr/>
        </p:nvSpPr>
        <p:spPr>
          <a:xfrm>
            <a:off x="5934456" y="2697480"/>
            <a:ext cx="274320" cy="3200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1" name="Step card 3"/>
          <p:cNvSpPr/>
          <p:nvPr/>
        </p:nvSpPr>
        <p:spPr>
          <a:xfrm>
            <a:off x="6272784" y="1463040"/>
            <a:ext cx="2468880" cy="28346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2" name="Number 3"/>
          <p:cNvSpPr txBox="1"/>
          <p:nvPr/>
        </p:nvSpPr>
        <p:spPr>
          <a:xfrm>
            <a:off x="6501384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Step text 3"/>
          <p:cNvSpPr txBox="1"/>
          <p:nvPr/>
        </p:nvSpPr>
        <p:spPr>
          <a:xfrm>
            <a:off x="6501384" y="242316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execvp()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The child searches PATH and runs the program; on failure it exits with status 127</a:t>
            </a:r>
            <a:endParaRPr lang="en-US" sz="2200" dirty="0"/>
          </a:p>
        </p:txBody>
      </p:sp>
      <p:sp>
        <p:nvSpPr>
          <p:cNvPr id="14" name="Arrow 3"/>
          <p:cNvSpPr/>
          <p:nvPr/>
        </p:nvSpPr>
        <p:spPr>
          <a:xfrm>
            <a:off x="8796528" y="2697480"/>
            <a:ext cx="274320" cy="320040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5" name="Step card 4"/>
          <p:cNvSpPr/>
          <p:nvPr/>
        </p:nvSpPr>
        <p:spPr>
          <a:xfrm>
            <a:off x="9134856" y="1463040"/>
            <a:ext cx="2468880" cy="283464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6" name="Number 4"/>
          <p:cNvSpPr txBox="1"/>
          <p:nvPr/>
        </p:nvSpPr>
        <p:spPr>
          <a:xfrm>
            <a:off x="9363456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Step text 4"/>
          <p:cNvSpPr txBox="1"/>
          <p:nvPr/>
        </p:nvSpPr>
        <p:spPr>
          <a:xfrm>
            <a:off x="9363456" y="242316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decides</a:t>
            </a:r>
            <a:endParaRPr lang="en-US" sz="2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Foreground: waitpid() until it ends or stops. Background: add_job(), back to menu</a:t>
            </a:r>
            <a:endParaRPr lang="en-US" sz="2200" dirty="0"/>
          </a:p>
        </p:txBody>
      </p:sp>
      <p:sp>
        <p:nvSpPr>
          <p:cNvPr id="18" name="cd callout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</p:spPr>
      </p:sp>
      <p:sp>
        <p:nvSpPr>
          <p:cNvPr id="19" name="Folder circle"/>
          <p:cNvSpPr/>
          <p:nvPr/>
        </p:nvSpPr>
        <p:spPr>
          <a:xfrm>
            <a:off x="868680" y="4965192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0" descr="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157" y="5125669"/>
            <a:ext cx="273406" cy="273406"/>
          </a:xfrm>
          <a:prstGeom prst="rect">
            <a:avLst/>
          </a:prstGeom>
        </p:spPr>
      </p:pic>
      <p:sp>
        <p:nvSpPr>
          <p:cNvPr id="21" name="cd text"/>
          <p:cNvSpPr txBox="1"/>
          <p:nvPr/>
        </p:nvSpPr>
        <p:spPr>
          <a:xfrm>
            <a:off x="1691640" y="4754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cd is built in 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It runs through chdir() inside the shell itself. A child process changing directory would not change the parent shell's directory.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Foreground vs background</a:t>
            </a:r>
            <a:endParaRPr lang="en-US" sz="3600" dirty="0"/>
          </a:p>
        </p:txBody>
      </p:sp>
      <p:sp>
        <p:nvSpPr>
          <p:cNvPr id="3" name="Foreground card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Foreground circle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Fore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1910182"/>
            <a:ext cx="294437" cy="294437"/>
          </a:xfrm>
          <a:prstGeom prst="rect">
            <a:avLst/>
          </a:prstGeom>
        </p:spPr>
      </p:pic>
      <p:sp>
        <p:nvSpPr>
          <p:cNvPr id="6" name="Foreground heading"/>
          <p:cNvSpPr txBox="1"/>
          <p:nvPr/>
        </p:nvSpPr>
        <p:spPr>
          <a:xfrm>
            <a:off x="169164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Foreground</a:t>
            </a:r>
            <a:endParaRPr lang="en-US" sz="2800" dirty="0"/>
          </a:p>
        </p:txBody>
      </p:sp>
      <p:sp>
        <p:nvSpPr>
          <p:cNvPr id="7" name="Foreground details"/>
          <p:cNvSpPr txBox="1"/>
          <p:nvPr/>
        </p:nvSpPr>
        <p:spPr>
          <a:xfrm>
            <a:off x="91440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Parent behaviour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child to finish or stop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Menu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while the command runs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Example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5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Tracking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stopped child is added to the job table</a:t>
            </a:r>
            <a:endParaRPr lang="en-US" sz="1400" dirty="0"/>
          </a:p>
        </p:txBody>
      </p:sp>
      <p:sp>
        <p:nvSpPr>
          <p:cNvPr id="8" name="Background card"/>
          <p:cNvSpPr/>
          <p:nvPr/>
        </p:nvSpPr>
        <p:spPr>
          <a:xfrm>
            <a:off x="6245352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9" name="Background circle"/>
          <p:cNvSpPr/>
          <p:nvPr/>
        </p:nvSpPr>
        <p:spPr>
          <a:xfrm>
            <a:off x="6565392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Backgrou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1910182"/>
            <a:ext cx="294437" cy="294437"/>
          </a:xfrm>
          <a:prstGeom prst="rect">
            <a:avLst/>
          </a:prstGeom>
        </p:spPr>
      </p:pic>
      <p:sp>
        <p:nvSpPr>
          <p:cNvPr id="11" name="Background heading"/>
          <p:cNvSpPr txBox="1"/>
          <p:nvPr/>
        </p:nvSpPr>
        <p:spPr>
          <a:xfrm>
            <a:off x="7388352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2800" dirty="0"/>
          </a:p>
        </p:txBody>
      </p:sp>
      <p:sp>
        <p:nvSpPr>
          <p:cNvPr id="12" name="Background details"/>
          <p:cNvSpPr txBox="1"/>
          <p:nvPr/>
        </p:nvSpPr>
        <p:spPr>
          <a:xfrm>
            <a:off x="6611112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Parent behaviour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job and returns to the menu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Menu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while the command runs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Example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60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Tracking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the job table right away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Menu box"/>
          <p:cNvSpPr txBox="1"/>
          <p:nvPr/>
        </p:nvSpPr>
        <p:spPr>
          <a:xfrm>
            <a:off x="3813048" y="1417320"/>
            <a:ext cx="45720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Menu and input validation</a:t>
            </a:r>
            <a:endParaRPr lang="en-US" sz="2000" dirty="0"/>
          </a:p>
        </p:txBody>
      </p:sp>
      <p:sp>
        <p:nvSpPr>
          <p:cNvPr id="4" name="Bus stem"/>
          <p:cNvSpPr/>
          <p:nvPr/>
        </p:nvSpPr>
        <p:spPr>
          <a:xfrm>
            <a:off x="6094476" y="2148840"/>
            <a:ext cx="0" cy="45720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5" name="Bus"/>
          <p:cNvSpPr/>
          <p:nvPr/>
        </p:nvSpPr>
        <p:spPr>
          <a:xfrm>
            <a:off x="1554480" y="2606040"/>
            <a:ext cx="905256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6" name="Drop 1"/>
          <p:cNvSpPr/>
          <p:nvPr/>
        </p:nvSpPr>
        <p:spPr>
          <a:xfrm>
            <a:off x="1554480" y="2606040"/>
            <a:ext cx="0" cy="365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7" name="Foreground box"/>
          <p:cNvSpPr/>
          <p:nvPr/>
        </p:nvSpPr>
        <p:spPr>
          <a:xfrm>
            <a:off x="548640" y="2971800"/>
            <a:ext cx="2011680" cy="21945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8" name="Foreground text"/>
          <p:cNvSpPr txBox="1"/>
          <p:nvPr/>
        </p:nvSpPr>
        <p:spPr>
          <a:xfrm>
            <a:off x="685800" y="31546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Foreground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fork() then execvp()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parent: waitpid()</a:t>
            </a:r>
            <a:endParaRPr lang="en-US" sz="1800" dirty="0"/>
          </a:p>
        </p:txBody>
      </p:sp>
      <p:sp>
        <p:nvSpPr>
          <p:cNvPr id="9" name="Drop 2"/>
          <p:cNvSpPr/>
          <p:nvPr/>
        </p:nvSpPr>
        <p:spPr>
          <a:xfrm>
            <a:off x="3817620" y="2606040"/>
            <a:ext cx="0" cy="365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0" name="Background box"/>
          <p:cNvSpPr/>
          <p:nvPr/>
        </p:nvSpPr>
        <p:spPr>
          <a:xfrm>
            <a:off x="2811780" y="2971800"/>
            <a:ext cx="2011680" cy="21945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1" name="Background text"/>
          <p:cNvSpPr txBox="1"/>
          <p:nvPr/>
        </p:nvSpPr>
        <p:spPr>
          <a:xfrm>
            <a:off x="2948940" y="31546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Background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fork() then execvp()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parent: add_job()</a:t>
            </a:r>
            <a:endParaRPr lang="en-US" sz="1800" dirty="0"/>
          </a:p>
        </p:txBody>
      </p:sp>
      <p:sp>
        <p:nvSpPr>
          <p:cNvPr id="12" name="Drop 3"/>
          <p:cNvSpPr/>
          <p:nvPr/>
        </p:nvSpPr>
        <p:spPr>
          <a:xfrm>
            <a:off x="6080760" y="2606040"/>
            <a:ext cx="0" cy="365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3" name="Job table box"/>
          <p:cNvSpPr/>
          <p:nvPr/>
        </p:nvSpPr>
        <p:spPr>
          <a:xfrm>
            <a:off x="5074920" y="2971800"/>
            <a:ext cx="2011680" cy="21945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4" name="Job table text"/>
          <p:cNvSpPr txBox="1"/>
          <p:nvPr/>
        </p:nvSpPr>
        <p:spPr>
          <a:xfrm>
            <a:off x="5212080" y="31546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Job table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refresh_jobs()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list_jobs()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up to 100 jobs</a:t>
            </a:r>
            <a:endParaRPr lang="en-US" sz="1800" dirty="0"/>
          </a:p>
        </p:txBody>
      </p:sp>
      <p:sp>
        <p:nvSpPr>
          <p:cNvPr id="15" name="Drop 4"/>
          <p:cNvSpPr/>
          <p:nvPr/>
        </p:nvSpPr>
        <p:spPr>
          <a:xfrm>
            <a:off x="8343900" y="2606040"/>
            <a:ext cx="0" cy="365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6" name="Signal control box"/>
          <p:cNvSpPr/>
          <p:nvPr/>
        </p:nvSpPr>
        <p:spPr>
          <a:xfrm>
            <a:off x="7338060" y="2971800"/>
            <a:ext cx="2011680" cy="21945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17" name="Signal control text"/>
          <p:cNvSpPr txBox="1"/>
          <p:nvPr/>
        </p:nvSpPr>
        <p:spPr>
          <a:xfrm>
            <a:off x="7475220" y="31546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Signal control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kill() with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SIGSTOP, SIGCONT, SIGTERM</a:t>
            </a:r>
            <a:endParaRPr lang="en-US" sz="1800" dirty="0"/>
          </a:p>
        </p:txBody>
      </p:sp>
      <p:sp>
        <p:nvSpPr>
          <p:cNvPr id="18" name="Drop 5"/>
          <p:cNvSpPr/>
          <p:nvPr/>
        </p:nvSpPr>
        <p:spPr>
          <a:xfrm>
            <a:off x="10607040" y="2606040"/>
            <a:ext cx="0" cy="36576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9" name="Directory box"/>
          <p:cNvSpPr/>
          <p:nvPr/>
        </p:nvSpPr>
        <p:spPr>
          <a:xfrm>
            <a:off x="9601200" y="2971800"/>
            <a:ext cx="2011680" cy="219456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/>
        </p:spPr>
      </p:sp>
      <p:sp>
        <p:nvSpPr>
          <p:cNvPr id="20" name="Directory text"/>
          <p:cNvSpPr txBox="1"/>
          <p:nvPr/>
        </p:nvSpPr>
        <p:spPr>
          <a:xfrm>
            <a:off x="9738360" y="3154680"/>
            <a:ext cx="1737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Directory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getcwd()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chdir() for cd</a:t>
            </a:r>
            <a:endParaRPr lang="en-US" sz="1800" dirty="0"/>
          </a:p>
        </p:txBody>
      </p:sp>
      <p:sp>
        <p:nvSpPr>
          <p:cNvPr id="21" name="Architecture note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single-process program: it loops, shows the menu, and refreshes job state with waitpid(WNOHANG) before each prompt.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Job table design</a:t>
            </a:r>
            <a:endParaRPr lang="en-US" sz="3600" dirty="0"/>
          </a:p>
        </p:txBody>
      </p:sp>
      <p:sp>
        <p:nvSpPr>
          <p:cNvPr id="3" name="Code card"/>
          <p:cNvSpPr/>
          <p:nvPr/>
        </p:nvSpPr>
        <p:spPr>
          <a:xfrm>
            <a:off x="548640" y="1463040"/>
            <a:ext cx="5760720" cy="356616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/>
        </p:spPr>
      </p:sp>
      <p:sp>
        <p:nvSpPr>
          <p:cNvPr id="4" name="Job struct code"/>
          <p:cNvSpPr txBox="1"/>
          <p:nvPr/>
        </p:nvSpPr>
        <p:spPr>
          <a:xfrm>
            <a:off x="868680" y="178308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id;       // shell Job ID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pid_t pid;      // Linux PID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  command[MAX_CMD];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active;   // slot in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  stopped;  // marked stopped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Job;</a:t>
            </a:r>
            <a:endParaRPr lang="en-US" sz="1500" dirty="0"/>
          </a:p>
        </p:txBody>
      </p:sp>
      <p:sp>
        <p:nvSpPr>
          <p:cNvPr id="5" name="Job table note"/>
          <p:cNvSpPr txBox="1"/>
          <p:nvPr/>
        </p:nvSpPr>
        <p:spPr>
          <a:xfrm>
            <a:off x="548640" y="5257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The jobs array holds up to MAX_JOBS = 100 entries. Finished jobs are marked inactive, so their slots can be reused.</a:t>
            </a:r>
            <a:endParaRPr lang="en-US" sz="1500" dirty="0"/>
          </a:p>
        </p:txBody>
      </p:sp>
      <p:sp>
        <p:nvSpPr>
          <p:cNvPr id="6" name="Job ID card"/>
          <p:cNvSpPr/>
          <p:nvPr/>
        </p:nvSpPr>
        <p:spPr>
          <a:xfrm>
            <a:off x="6675120" y="1463040"/>
            <a:ext cx="4937760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/>
        </p:spPr>
      </p:sp>
      <p:sp>
        <p:nvSpPr>
          <p:cNvPr id="7" name="Job ID text"/>
          <p:cNvSpPr txBox="1"/>
          <p:nvPr/>
        </p:nvSpPr>
        <p:spPr>
          <a:xfrm>
            <a:off x="6995160" y="17373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ID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Assigned by the shell (1, 2, 3 ...). This is what you type for menu options 4 to 7.</a:t>
            </a:r>
            <a:endParaRPr lang="en-US" sz="2800" dirty="0"/>
          </a:p>
        </p:txBody>
      </p:sp>
      <p:sp>
        <p:nvSpPr>
          <p:cNvPr id="8" name="PID card"/>
          <p:cNvSpPr/>
          <p:nvPr/>
        </p:nvSpPr>
        <p:spPr>
          <a:xfrm>
            <a:off x="6675120" y="3794760"/>
            <a:ext cx="4937760" cy="2148840"/>
          </a:xfrm>
          <a:prstGeom prst="roundRect">
            <a:avLst>
              <a:gd name="adj" fmla="val 5106"/>
            </a:avLst>
          </a:prstGeom>
          <a:solidFill>
            <a:schemeClr val="tx2"/>
          </a:solidFill>
          <a:ln/>
        </p:spPr>
      </p:sp>
      <p:sp>
        <p:nvSpPr>
          <p:cNvPr id="9" name="PID text"/>
          <p:cNvSpPr txBox="1"/>
          <p:nvPr/>
        </p:nvSpPr>
        <p:spPr>
          <a:xfrm>
            <a:off x="6995160" y="406908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</a:t>
            </a:r>
            <a:endParaRPr lang="en-US" sz="2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Assigned by Linux and shown in job messages. Used internally by kill() and waitpid().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Nine menu options</a:t>
            </a:r>
            <a:endParaRPr lang="en-US" sz="3600" dirty="0"/>
          </a:p>
        </p:txBody>
      </p:sp>
      <p:sp>
        <p:nvSpPr>
          <p:cNvPr id="3" name="Option card 1"/>
          <p:cNvSpPr/>
          <p:nvPr/>
        </p:nvSpPr>
        <p:spPr>
          <a:xfrm>
            <a:off x="54864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 txBox="1"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Option text 1"/>
          <p:cNvSpPr txBox="1"/>
          <p:nvPr/>
        </p:nvSpPr>
        <p:spPr>
          <a:xfrm>
            <a:off x="150876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Run in foreground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Waits for finish or stop</a:t>
            </a:r>
            <a:endParaRPr lang="en-US" sz="1700" dirty="0"/>
          </a:p>
        </p:txBody>
      </p:sp>
      <p:sp>
        <p:nvSpPr>
          <p:cNvPr id="6" name="Option card 2"/>
          <p:cNvSpPr/>
          <p:nvPr/>
        </p:nvSpPr>
        <p:spPr>
          <a:xfrm>
            <a:off x="429768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Number 2"/>
          <p:cNvSpPr txBox="1"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Option text 2"/>
          <p:cNvSpPr txBox="1"/>
          <p:nvPr/>
        </p:nvSpPr>
        <p:spPr>
          <a:xfrm>
            <a:off x="525780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Run in background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Returns to the menu at once</a:t>
            </a:r>
            <a:endParaRPr lang="en-US" sz="1700" dirty="0"/>
          </a:p>
        </p:txBody>
      </p:sp>
      <p:sp>
        <p:nvSpPr>
          <p:cNvPr id="9" name="Option card 3"/>
          <p:cNvSpPr/>
          <p:nvPr/>
        </p:nvSpPr>
        <p:spPr>
          <a:xfrm>
            <a:off x="8046720" y="146304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0" name="Number 3"/>
          <p:cNvSpPr txBox="1"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Option text 3"/>
          <p:cNvSpPr txBox="1"/>
          <p:nvPr/>
        </p:nvSpPr>
        <p:spPr>
          <a:xfrm>
            <a:off x="9006840" y="16459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View all jobs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Job ID, status, PID, command</a:t>
            </a:r>
            <a:endParaRPr lang="en-US" sz="1700" dirty="0"/>
          </a:p>
        </p:txBody>
      </p:sp>
      <p:sp>
        <p:nvSpPr>
          <p:cNvPr id="12" name="Option card 4"/>
          <p:cNvSpPr/>
          <p:nvPr/>
        </p:nvSpPr>
        <p:spPr>
          <a:xfrm>
            <a:off x="54864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3" name="Number 4"/>
          <p:cNvSpPr txBox="1"/>
          <p:nvPr/>
        </p:nvSpPr>
        <p:spPr>
          <a:xfrm>
            <a:off x="777240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Option text 4"/>
          <p:cNvSpPr txBox="1"/>
          <p:nvPr/>
        </p:nvSpPr>
        <p:spPr>
          <a:xfrm>
            <a:off x="150876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Bring job to foreground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SIGCONT, then waitpid()</a:t>
            </a:r>
            <a:endParaRPr lang="en-US" sz="1700" dirty="0"/>
          </a:p>
        </p:txBody>
      </p:sp>
      <p:sp>
        <p:nvSpPr>
          <p:cNvPr id="15" name="Option card 5"/>
          <p:cNvSpPr/>
          <p:nvPr/>
        </p:nvSpPr>
        <p:spPr>
          <a:xfrm>
            <a:off x="429768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6" name="Number 5"/>
          <p:cNvSpPr txBox="1"/>
          <p:nvPr/>
        </p:nvSpPr>
        <p:spPr>
          <a:xfrm>
            <a:off x="4526280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Option text 5"/>
          <p:cNvSpPr txBox="1"/>
          <p:nvPr/>
        </p:nvSpPr>
        <p:spPr>
          <a:xfrm>
            <a:off x="525780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Resume in background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SIGCONT, back to the menu</a:t>
            </a:r>
            <a:endParaRPr lang="en-US" sz="1700" dirty="0"/>
          </a:p>
        </p:txBody>
      </p:sp>
      <p:sp>
        <p:nvSpPr>
          <p:cNvPr id="18" name="Option card 6"/>
          <p:cNvSpPr/>
          <p:nvPr/>
        </p:nvSpPr>
        <p:spPr>
          <a:xfrm>
            <a:off x="8046720" y="301752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9" name="Number 6"/>
          <p:cNvSpPr txBox="1"/>
          <p:nvPr/>
        </p:nvSpPr>
        <p:spPr>
          <a:xfrm>
            <a:off x="8275320" y="3429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Option text 6"/>
          <p:cNvSpPr txBox="1"/>
          <p:nvPr/>
        </p:nvSpPr>
        <p:spPr>
          <a:xfrm>
            <a:off x="9006840" y="3200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Stop a job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Sends SIGSTOP</a:t>
            </a:r>
            <a:endParaRPr lang="en-US" sz="1700" dirty="0"/>
          </a:p>
        </p:txBody>
      </p:sp>
      <p:sp>
        <p:nvSpPr>
          <p:cNvPr id="21" name="Option card 7"/>
          <p:cNvSpPr/>
          <p:nvPr/>
        </p:nvSpPr>
        <p:spPr>
          <a:xfrm>
            <a:off x="54864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2" name="Number 7"/>
          <p:cNvSpPr txBox="1"/>
          <p:nvPr/>
        </p:nvSpPr>
        <p:spPr>
          <a:xfrm>
            <a:off x="777240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7</a:t>
            </a:r>
            <a:endParaRPr lang="en-US" sz="2000" dirty="0"/>
          </a:p>
        </p:txBody>
      </p:sp>
      <p:sp>
        <p:nvSpPr>
          <p:cNvPr id="23" name="Option text 7"/>
          <p:cNvSpPr txBox="1"/>
          <p:nvPr/>
        </p:nvSpPr>
        <p:spPr>
          <a:xfrm>
            <a:off x="1508760" y="4754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Terminate a job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Sends SIGTERM request</a:t>
            </a:r>
            <a:endParaRPr lang="en-US" sz="1700" dirty="0"/>
          </a:p>
        </p:txBody>
      </p:sp>
      <p:sp>
        <p:nvSpPr>
          <p:cNvPr id="24" name="Option card 8"/>
          <p:cNvSpPr/>
          <p:nvPr/>
        </p:nvSpPr>
        <p:spPr>
          <a:xfrm>
            <a:off x="429768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5" name="Number 8"/>
          <p:cNvSpPr txBox="1"/>
          <p:nvPr/>
        </p:nvSpPr>
        <p:spPr>
          <a:xfrm>
            <a:off x="4526280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8</a:t>
            </a:r>
            <a:endParaRPr lang="en-US" sz="2000" dirty="0"/>
          </a:p>
        </p:txBody>
      </p:sp>
      <p:sp>
        <p:nvSpPr>
          <p:cNvPr id="26" name="Option text 8"/>
          <p:cNvSpPr txBox="1"/>
          <p:nvPr/>
        </p:nvSpPr>
        <p:spPr>
          <a:xfrm>
            <a:off x="5257800" y="4754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Show current directory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Uses getcwd()</a:t>
            </a:r>
            <a:endParaRPr lang="en-US" sz="1700" dirty="0"/>
          </a:p>
        </p:txBody>
      </p:sp>
      <p:sp>
        <p:nvSpPr>
          <p:cNvPr id="27" name="Option card 9"/>
          <p:cNvSpPr/>
          <p:nvPr/>
        </p:nvSpPr>
        <p:spPr>
          <a:xfrm>
            <a:off x="8046720" y="4572000"/>
            <a:ext cx="356616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28" name="Number 9"/>
          <p:cNvSpPr txBox="1"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9</a:t>
            </a:r>
            <a:endParaRPr lang="en-US" sz="2000" dirty="0"/>
          </a:p>
        </p:txBody>
      </p:sp>
      <p:sp>
        <p:nvSpPr>
          <p:cNvPr id="29" name="Option text 9"/>
          <p:cNvSpPr txBox="1"/>
          <p:nvPr/>
        </p:nvSpPr>
        <p:spPr>
          <a:xfrm>
            <a:off x="9006840" y="47548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Exit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Prints message and quits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Signals for job control</a:t>
            </a:r>
            <a:endParaRPr lang="en-US" sz="3600" dirty="0"/>
          </a:p>
        </p:txBody>
      </p:sp>
      <p:sp>
        <p:nvSpPr>
          <p:cNvPr id="3" name="SIGSTOP card"/>
          <p:cNvSpPr/>
          <p:nvPr/>
        </p:nvSpPr>
        <p:spPr>
          <a:xfrm>
            <a:off x="548640" y="146304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4" name="SIGSTOP circle"/>
          <p:cNvSpPr/>
          <p:nvPr/>
        </p:nvSpPr>
        <p:spPr>
          <a:xfrm>
            <a:off x="868680" y="17830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SIGSTO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90" y="1980590"/>
            <a:ext cx="336499" cy="336499"/>
          </a:xfrm>
          <a:prstGeom prst="rect">
            <a:avLst/>
          </a:prstGeom>
        </p:spPr>
      </p:pic>
      <p:sp>
        <p:nvSpPr>
          <p:cNvPr id="6" name="SIGSTOP text"/>
          <p:cNvSpPr txBox="1"/>
          <p:nvPr/>
        </p:nvSpPr>
        <p:spPr>
          <a:xfrm>
            <a:off x="86868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SIGSTOP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Option 6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Pauses a job. The target process cannot catch or ignore it.</a:t>
            </a:r>
            <a:endParaRPr lang="en-US" sz="2600" dirty="0"/>
          </a:p>
        </p:txBody>
      </p:sp>
      <p:sp>
        <p:nvSpPr>
          <p:cNvPr id="7" name="SIGCONT card"/>
          <p:cNvSpPr/>
          <p:nvPr/>
        </p:nvSpPr>
        <p:spPr>
          <a:xfrm>
            <a:off x="4297680" y="146304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8" name="SIGCONT circle"/>
          <p:cNvSpPr/>
          <p:nvPr/>
        </p:nvSpPr>
        <p:spPr>
          <a:xfrm>
            <a:off x="4617720" y="17830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SIGCO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30" y="1980590"/>
            <a:ext cx="336499" cy="336499"/>
          </a:xfrm>
          <a:prstGeom prst="rect">
            <a:avLst/>
          </a:prstGeom>
        </p:spPr>
      </p:pic>
      <p:sp>
        <p:nvSpPr>
          <p:cNvPr id="10" name="SIGCONT text"/>
          <p:cNvSpPr txBox="1"/>
          <p:nvPr/>
        </p:nvSpPr>
        <p:spPr>
          <a:xfrm>
            <a:off x="461772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SIGCONT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Options 4 and 5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Continues a stopped job, in the foreground or the background.</a:t>
            </a:r>
            <a:endParaRPr lang="en-US" sz="2600" dirty="0"/>
          </a:p>
        </p:txBody>
      </p:sp>
      <p:sp>
        <p:nvSpPr>
          <p:cNvPr id="11" name="SIGTERM card"/>
          <p:cNvSpPr/>
          <p:nvPr/>
        </p:nvSpPr>
        <p:spPr>
          <a:xfrm>
            <a:off x="8046720" y="1463040"/>
            <a:ext cx="3566160" cy="33832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sp>
        <p:nvSpPr>
          <p:cNvPr id="12" name="SIGTERM circle"/>
          <p:cNvSpPr/>
          <p:nvPr/>
        </p:nvSpPr>
        <p:spPr>
          <a:xfrm>
            <a:off x="8366760" y="17830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2" descr="SIGTER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270" y="1980590"/>
            <a:ext cx="336499" cy="336499"/>
          </a:xfrm>
          <a:prstGeom prst="rect">
            <a:avLst/>
          </a:prstGeom>
        </p:spPr>
      </p:pic>
      <p:sp>
        <p:nvSpPr>
          <p:cNvPr id="14" name="SIGTERM text"/>
          <p:cNvSpPr txBox="1"/>
          <p:nvPr/>
        </p:nvSpPr>
        <p:spPr>
          <a:xfrm>
            <a:off x="8366760" y="274320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SIGTERM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</a:rPr>
              <a:t>Option 7</a:t>
            </a:r>
            <a:endParaRPr lang="en-US" sz="2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Asks a job to terminate. The process may handle or ignore it.</a:t>
            </a:r>
            <a:endParaRPr lang="en-US" sz="2600" dirty="0"/>
          </a:p>
        </p:txBody>
      </p:sp>
      <p:sp>
        <p:nvSpPr>
          <p:cNvPr id="15" name="Note banner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6" name="Note text"/>
          <p:cNvSpPr txBox="1"/>
          <p:nvPr/>
        </p:nvSpPr>
        <p:spPr>
          <a:xfrm>
            <a:off x="868680" y="51206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Note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 termination request is not confirmed exit. A job is marked inactive only when waitpid() reports it finished.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Build and tools</a:t>
            </a:r>
            <a:endParaRPr lang="en-US" sz="3600" dirty="0"/>
          </a:p>
        </p:txBody>
      </p:sp>
      <p:sp>
        <p:nvSpPr>
          <p:cNvPr id="3" name="Stat menu options"/>
          <p:cNvSpPr txBox="1"/>
          <p:nvPr/>
        </p:nvSpPr>
        <p:spPr>
          <a:xfrm>
            <a:off x="548640" y="13716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menu options</a:t>
            </a:r>
            <a:endParaRPr lang="en-US" sz="6000" dirty="0"/>
          </a:p>
        </p:txBody>
      </p:sp>
      <p:sp>
        <p:nvSpPr>
          <p:cNvPr id="4" name="Stat tracked job slots"/>
          <p:cNvSpPr txBox="1"/>
          <p:nvPr/>
        </p:nvSpPr>
        <p:spPr>
          <a:xfrm>
            <a:off x="3383280" y="13716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6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tracked job slots</a:t>
            </a:r>
            <a:endParaRPr lang="en-US" sz="6000" dirty="0"/>
          </a:p>
        </p:txBody>
      </p:sp>
      <p:sp>
        <p:nvSpPr>
          <p:cNvPr id="5" name="Stat language standard"/>
          <p:cNvSpPr txBox="1"/>
          <p:nvPr/>
        </p:nvSpPr>
        <p:spPr>
          <a:xfrm>
            <a:off x="6217920" y="13716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C11</a:t>
            </a:r>
            <a:endParaRPr lang="en-US" sz="6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language standard</a:t>
            </a:r>
            <a:endParaRPr lang="en-US" sz="6000" dirty="0"/>
          </a:p>
        </p:txBody>
      </p:sp>
      <p:sp>
        <p:nvSpPr>
          <p:cNvPr id="6" name="Stat third-party libraries"/>
          <p:cNvSpPr txBox="1"/>
          <p:nvPr/>
        </p:nvSpPr>
        <p:spPr>
          <a:xfrm>
            <a:off x="9052560" y="137160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third-party libraries</a:t>
            </a:r>
            <a:endParaRPr lang="en-US" sz="6000" dirty="0"/>
          </a:p>
        </p:txBody>
      </p:sp>
      <p:sp>
        <p:nvSpPr>
          <p:cNvPr id="7" name="Makefile card"/>
          <p:cNvSpPr/>
          <p:nvPr/>
        </p:nvSpPr>
        <p:spPr>
          <a:xfrm>
            <a:off x="548640" y="3291840"/>
            <a:ext cx="5760720" cy="2697480"/>
          </a:xfrm>
          <a:prstGeom prst="roundRect">
            <a:avLst>
              <a:gd name="adj" fmla="val 4068"/>
            </a:avLst>
          </a:prstGeom>
          <a:solidFill>
            <a:schemeClr val="tx1"/>
          </a:solidFill>
          <a:ln/>
        </p:spPr>
      </p:sp>
      <p:sp>
        <p:nvSpPr>
          <p:cNvPr id="8" name="Makefile code"/>
          <p:cNvSpPr txBox="1"/>
          <p:nvPr/>
        </p:nvSpPr>
        <p:spPr>
          <a:xfrm>
            <a:off x="868680" y="35661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= gcc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= -Wall -Wextra -std=c11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minishell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 $(TARGET)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$(TARGET): shell.c shell.h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shell.c -o $(TARGET)</a:t>
            </a:r>
            <a:endParaRPr lang="en-US" sz="1400" dirty="0"/>
          </a:p>
        </p:txBody>
      </p:sp>
      <p:sp>
        <p:nvSpPr>
          <p:cNvPr id="9" name="GCC circle"/>
          <p:cNvSpPr/>
          <p:nvPr/>
        </p:nvSpPr>
        <p:spPr>
          <a:xfrm>
            <a:off x="6675120" y="33832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0" descr="GC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942" y="3556102"/>
            <a:ext cx="294437" cy="294437"/>
          </a:xfrm>
          <a:prstGeom prst="rect">
            <a:avLst/>
          </a:prstGeom>
        </p:spPr>
      </p:pic>
      <p:sp>
        <p:nvSpPr>
          <p:cNvPr id="11" name="GCC text"/>
          <p:cNvSpPr txBox="1"/>
          <p:nvPr/>
        </p:nvSpPr>
        <p:spPr>
          <a:xfrm>
            <a:off x="7498080" y="32918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GCC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Compiles shell.c into the minishell executable</a:t>
            </a:r>
            <a:endParaRPr lang="en-US" sz="1900" dirty="0"/>
          </a:p>
        </p:txBody>
      </p:sp>
      <p:sp>
        <p:nvSpPr>
          <p:cNvPr id="12" name="GNU Make circle"/>
          <p:cNvSpPr/>
          <p:nvPr/>
        </p:nvSpPr>
        <p:spPr>
          <a:xfrm>
            <a:off x="6675120" y="4297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GNU Mak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942" y="4470502"/>
            <a:ext cx="294437" cy="294437"/>
          </a:xfrm>
          <a:prstGeom prst="rect">
            <a:avLst/>
          </a:prstGeom>
        </p:spPr>
      </p:pic>
      <p:sp>
        <p:nvSpPr>
          <p:cNvPr id="14" name="GNU Make text"/>
          <p:cNvSpPr txBox="1"/>
          <p:nvPr/>
        </p:nvSpPr>
        <p:spPr>
          <a:xfrm>
            <a:off x="7498080" y="42062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GNU Make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make builds, make clean removes the executable</a:t>
            </a:r>
            <a:endParaRPr lang="en-US" sz="1900" dirty="0"/>
          </a:p>
        </p:txBody>
      </p:sp>
      <p:sp>
        <p:nvSpPr>
          <p:cNvPr id="15" name="Ubuntu / Linux circle"/>
          <p:cNvSpPr/>
          <p:nvPr/>
        </p:nvSpPr>
        <p:spPr>
          <a:xfrm>
            <a:off x="6675120" y="5212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Ubuntu / Linu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942" y="5384902"/>
            <a:ext cx="294437" cy="294437"/>
          </a:xfrm>
          <a:prstGeom prst="rect">
            <a:avLst/>
          </a:prstGeom>
        </p:spPr>
      </p:pic>
      <p:sp>
        <p:nvSpPr>
          <p:cNvPr id="17" name="Ubuntu / Linux text"/>
          <p:cNvSpPr txBox="1"/>
          <p:nvPr/>
        </p:nvSpPr>
        <p:spPr>
          <a:xfrm>
            <a:off x="7498080" y="5120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Ubuntu / Linux</a:t>
            </a:r>
            <a:endParaRPr lang="en-US" sz="1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POSIX process APIs; also works under WSL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Demo: build and run</a:t>
            </a:r>
            <a:endParaRPr lang="en-US" sz="3600" dirty="0"/>
          </a:p>
        </p:txBody>
      </p:sp>
      <p:sp>
        <p:nvSpPr>
          <p:cNvPr id="3" name="Terminal card"/>
          <p:cNvSpPr/>
          <p:nvPr/>
        </p:nvSpPr>
        <p:spPr>
          <a:xfrm>
            <a:off x="548640" y="1463040"/>
            <a:ext cx="6766560" cy="4480560"/>
          </a:xfrm>
          <a:prstGeom prst="roundRect">
            <a:avLst>
              <a:gd name="adj" fmla="val 2449"/>
            </a:avLst>
          </a:prstGeom>
          <a:solidFill>
            <a:schemeClr val="tx1"/>
          </a:solidFill>
          <a:ln/>
        </p:spPr>
      </p:sp>
      <p:sp>
        <p:nvSpPr>
          <p:cNvPr id="4" name="Dot red"/>
          <p:cNvSpPr/>
          <p:nvPr/>
        </p:nvSpPr>
        <p:spPr>
          <a:xfrm>
            <a:off x="777240" y="1664208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5" name="Dot amber"/>
          <p:cNvSpPr/>
          <p:nvPr/>
        </p:nvSpPr>
        <p:spPr>
          <a:xfrm>
            <a:off x="1051560" y="1664208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Dot green"/>
          <p:cNvSpPr/>
          <p:nvPr/>
        </p:nvSpPr>
        <p:spPr>
          <a:xfrm>
            <a:off x="1325880" y="1664208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ession text"/>
          <p:cNvSpPr txBox="1"/>
          <p:nvPr/>
        </p:nvSpPr>
        <p:spPr>
          <a:xfrm>
            <a:off x="868680" y="2194560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./minishell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Mini Linux Shell!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2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command: sleep 60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[1] added. PID: 6640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3</a:t>
            </a:r>
            <a:endParaRPr lang="en-US" sz="16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choice: 6</a:t>
            </a:r>
            <a:endParaRPr lang="en-US" sz="1600" dirty="0"/>
          </a:p>
        </p:txBody>
      </p:sp>
      <p:sp>
        <p:nvSpPr>
          <p:cNvPr id="8" name="Tested heading"/>
          <p:cNvSpPr txBox="1"/>
          <p:nvPr/>
        </p:nvSpPr>
        <p:spPr>
          <a:xfrm>
            <a:off x="7680960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Commands tested</a:t>
            </a:r>
            <a:endParaRPr lang="en-US" sz="2200" dirty="0"/>
          </a:p>
        </p:txBody>
      </p:sp>
      <p:sp>
        <p:nvSpPr>
          <p:cNvPr id="9" name="Chip date"/>
          <p:cNvSpPr txBox="1"/>
          <p:nvPr/>
        </p:nvSpPr>
        <p:spPr>
          <a:xfrm>
            <a:off x="7680960" y="210312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500" dirty="0"/>
          </a:p>
        </p:txBody>
      </p:sp>
      <p:sp>
        <p:nvSpPr>
          <p:cNvPr id="10" name="Chip ls"/>
          <p:cNvSpPr txBox="1"/>
          <p:nvPr/>
        </p:nvSpPr>
        <p:spPr>
          <a:xfrm>
            <a:off x="9692640" y="210312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endParaRPr lang="en-US" sz="1500" dirty="0"/>
          </a:p>
        </p:txBody>
      </p:sp>
      <p:sp>
        <p:nvSpPr>
          <p:cNvPr id="11" name="Chip pwd"/>
          <p:cNvSpPr txBox="1"/>
          <p:nvPr/>
        </p:nvSpPr>
        <p:spPr>
          <a:xfrm>
            <a:off x="7680960" y="274320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500" dirty="0"/>
          </a:p>
        </p:txBody>
      </p:sp>
      <p:sp>
        <p:nvSpPr>
          <p:cNvPr id="12" name="Chip whoami"/>
          <p:cNvSpPr txBox="1"/>
          <p:nvPr/>
        </p:nvSpPr>
        <p:spPr>
          <a:xfrm>
            <a:off x="9692640" y="274320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whoami</a:t>
            </a:r>
            <a:endParaRPr lang="en-US" sz="1500" dirty="0"/>
          </a:p>
        </p:txBody>
      </p:sp>
      <p:sp>
        <p:nvSpPr>
          <p:cNvPr id="13" name="Chip sleep 5"/>
          <p:cNvSpPr txBox="1"/>
          <p:nvPr/>
        </p:nvSpPr>
        <p:spPr>
          <a:xfrm>
            <a:off x="7680960" y="338328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5</a:t>
            </a:r>
            <a:endParaRPr lang="en-US" sz="1500" dirty="0"/>
          </a:p>
        </p:txBody>
      </p:sp>
      <p:sp>
        <p:nvSpPr>
          <p:cNvPr id="14" name="Chip sleep 60"/>
          <p:cNvSpPr txBox="1"/>
          <p:nvPr/>
        </p:nvSpPr>
        <p:spPr>
          <a:xfrm>
            <a:off x="9692640" y="3383280"/>
            <a:ext cx="182880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60</a:t>
            </a:r>
            <a:endParaRPr lang="en-US" sz="1500" dirty="0"/>
          </a:p>
        </p:txBody>
      </p:sp>
      <p:sp>
        <p:nvSpPr>
          <p:cNvPr id="15" name="PID note"/>
          <p:cNvSpPr txBox="1"/>
          <p:nvPr/>
        </p:nvSpPr>
        <p:spPr>
          <a:xfrm>
            <a:off x="7680960" y="429768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PID 6640 is only an example. Linux assigns PIDs dynamically, so values differ on every run.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Test cases</a:t>
            </a:r>
            <a:endParaRPr lang="en-US" sz="3600" dirty="0"/>
          </a:p>
        </p:txBody>
      </p:sp>
      <p:graphicFrame>
        <p:nvGraphicFramePr>
          <p:cNvPr id="12" name="Test cas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  <a:gridCol w="48463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Steps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Foreground command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Option 1, enter pwd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Prints the path, then returns to the menu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Background command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Option 2, enter sleep 60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Prints Job ID and PID; menu returns at once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List jobs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Option 3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Shows Job ID, PID, command, running or stopped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Stop a job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Option 6, enter Job ID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Sends SIGSTOP and prints a stopped message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Resume in background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Option 5, enter Job ID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Sends SIGCONT and returns to the menu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Terminate request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Option 7, enter Job ID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Sends SIGTERM and prints a request message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Results note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Reported results: a job listing with Job ID, PID and running status, a stop message, and a termination-request message.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 and future work</a:t>
            </a:r>
            <a:endParaRPr lang="en-US" sz="3600" dirty="0"/>
          </a:p>
        </p:txBody>
      </p:sp>
      <p:sp>
        <p:nvSpPr>
          <p:cNvPr id="3" name="Limitations card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4" name="Limitations circle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Limita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1502" y="1910182"/>
            <a:ext cx="294437" cy="294437"/>
          </a:xfrm>
          <a:prstGeom prst="rect">
            <a:avLst/>
          </a:prstGeom>
        </p:spPr>
      </p:pic>
      <p:sp>
        <p:nvSpPr>
          <p:cNvPr id="6" name="Limitations heading"/>
          <p:cNvSpPr txBox="1"/>
          <p:nvPr/>
        </p:nvSpPr>
        <p:spPr>
          <a:xfrm>
            <a:off x="1691640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7" name="Limitations list"/>
          <p:cNvSpPr txBox="1"/>
          <p:nvPr/>
        </p:nvSpPr>
        <p:spPr>
          <a:xfrm>
            <a:off x="914400" y="26517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learning prototype, not a Bash replacement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Parser has no quoting, pipes or redirection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Fixed table of 100 jobs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No full process-group or terminal control</a:t>
            </a:r>
            <a:endParaRPr lang="en-US" sz="1700" dirty="0"/>
          </a:p>
        </p:txBody>
      </p:sp>
      <p:sp>
        <p:nvSpPr>
          <p:cNvPr id="8" name="Future work card"/>
          <p:cNvSpPr/>
          <p:nvPr/>
        </p:nvSpPr>
        <p:spPr>
          <a:xfrm>
            <a:off x="6245352" y="146304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9" name="Future work circle"/>
          <p:cNvSpPr/>
          <p:nvPr/>
        </p:nvSpPr>
        <p:spPr>
          <a:xfrm>
            <a:off x="6565392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Future wor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214" y="1910182"/>
            <a:ext cx="294437" cy="294437"/>
          </a:xfrm>
          <a:prstGeom prst="rect">
            <a:avLst/>
          </a:prstGeom>
        </p:spPr>
      </p:pic>
      <p:sp>
        <p:nvSpPr>
          <p:cNvPr id="11" name="Future work heading"/>
          <p:cNvSpPr txBox="1"/>
          <p:nvPr/>
        </p:nvSpPr>
        <p:spPr>
          <a:xfrm>
            <a:off x="7388352" y="17373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12" name="Future work list"/>
          <p:cNvSpPr txBox="1"/>
          <p:nvPr/>
        </p:nvSpPr>
        <p:spPr>
          <a:xfrm>
            <a:off x="6611112" y="265176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Quoted arguments and pipelines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I/O redirection and process-group control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Align shell.h with shell.c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Automated tests for completion, stop and resume</a:t>
            </a:r>
            <a:endParaRPr lang="en-US" sz="1700" dirty="0"/>
          </a:p>
        </p:txBody>
      </p:sp>
      <p:sp>
        <p:nvSpPr>
          <p:cNvPr id="13" name="Dashboard note card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4" name="Dashboard note"/>
          <p:cNvSpPr txBox="1"/>
          <p:nvPr/>
        </p:nvSpPr>
        <p:spPr>
          <a:xfrm>
            <a:off x="868680" y="53035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Dashboard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The screenshot shows a Flask job-loading error. The C program has no Flask backend, so a tested API is a future step.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28803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4" name="Takeaways card"/>
          <p:cNvSpPr/>
          <p:nvPr/>
        </p:nvSpPr>
        <p:spPr>
          <a:xfrm>
            <a:off x="6309360" y="1371600"/>
            <a:ext cx="5303520" cy="420624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5" name="Takeaways heading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200" dirty="0"/>
          </a:p>
        </p:txBody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496312"/>
            <a:ext cx="411480" cy="411480"/>
          </a:xfrm>
          <a:prstGeom prst="rect">
            <a:avLst/>
          </a:prstGeom>
        </p:spPr>
      </p:pic>
      <p:sp>
        <p:nvSpPr>
          <p:cNvPr id="7" name="Takeaway 1"/>
          <p:cNvSpPr txBox="1"/>
          <p:nvPr/>
        </p:nvSpPr>
        <p:spPr>
          <a:xfrm>
            <a:off x="7315200" y="242316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fork(), execvp() and waitpid() made visible</a:t>
            </a:r>
            <a:endParaRPr lang="en-US" sz="1800" dirty="0"/>
          </a:p>
        </p:txBody>
      </p:sp>
      <p:pic>
        <p:nvPicPr>
          <p:cNvPr id="8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547872"/>
            <a:ext cx="411480" cy="411480"/>
          </a:xfrm>
          <a:prstGeom prst="rect">
            <a:avLst/>
          </a:prstGeom>
        </p:spPr>
      </p:pic>
      <p:sp>
        <p:nvSpPr>
          <p:cNvPr id="9" name="Takeaway 2"/>
          <p:cNvSpPr txBox="1"/>
          <p:nvPr/>
        </p:nvSpPr>
        <p:spPr>
          <a:xfrm>
            <a:off x="7315200" y="347472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Foreground, background and signals in nine menu options</a:t>
            </a:r>
            <a:endParaRPr lang="en-US" sz="1800" dirty="0"/>
          </a:p>
        </p:txBody>
      </p:sp>
      <p:pic>
        <p:nvPicPr>
          <p:cNvPr id="10" name="Image 2" descr="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599432"/>
            <a:ext cx="411480" cy="411480"/>
          </a:xfrm>
          <a:prstGeom prst="rect">
            <a:avLst/>
          </a:prstGeom>
        </p:spPr>
      </p:pic>
      <p:sp>
        <p:nvSpPr>
          <p:cNvPr id="11" name="Takeaway 3"/>
          <p:cNvSpPr txBox="1"/>
          <p:nvPr/>
        </p:nvSpPr>
        <p:spPr>
          <a:xfrm>
            <a:off x="7315200" y="45262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An honest prototype that teaches OS fundamentals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inal Green">
  <a:themeElements>
    <a:clrScheme name="Terminal Green">
      <a:dk1>
        <a:srgbClr val="10201A"/>
      </a:dk1>
      <a:lt1>
        <a:srgbClr val="FFFFFF"/>
      </a:lt1>
      <a:dk2>
        <a:srgbClr val="1B3A2D"/>
      </a:dk2>
      <a:lt2>
        <a:srgbClr val="EEF4F0"/>
      </a:lt2>
      <a:accent1>
        <a:srgbClr val="2FBF71"/>
      </a:accent1>
      <a:accent2>
        <a:srgbClr val="F2A93B"/>
      </a:accent2>
      <a:accent3>
        <a:srgbClr val="5E7268"/>
      </a:accent3>
      <a:accent4>
        <a:srgbClr val="D64550"/>
      </a:accent4>
      <a:accent5>
        <a:srgbClr val="A9BDB2"/>
      </a:accent5>
      <a:accent6>
        <a:srgbClr val="3A7CA5"/>
      </a:accent6>
      <a:hlink>
        <a:srgbClr val="2FBF71"/>
      </a:hlink>
      <a:folHlink>
        <a:srgbClr val="5E7268"/>
      </a:folHlink>
    </a:clrScheme>
    <a:fontScheme name="Terminal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Linux Shell with Background Job Management</dc:title>
  <dc:subject>PptxGenJS Presentation</dc:subject>
  <dc:creator>P. Harini, Aasritha, P. Bindhu Madhavi</dc:creator>
  <cp:lastModifiedBy>P. Harini, Aasritha, P. Bindhu Madhavi</cp:lastModifiedBy>
  <cp:revision>1</cp:revision>
  <dcterms:created xsi:type="dcterms:W3CDTF">2026-10-17T04:48:16Z</dcterms:created>
  <dcterms:modified xsi:type="dcterms:W3CDTF">2026-10-17T04:48:16Z</dcterms:modified>
</cp:coreProperties>
</file>